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8" r:id="rId2"/>
    <p:sldId id="280" r:id="rId3"/>
    <p:sldId id="284" r:id="rId4"/>
    <p:sldId id="282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Bengaluru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Residential</c:v>
                </c:pt>
                <c:pt idx="1">
                  <c:v>Service</c:v>
                </c:pt>
                <c:pt idx="2">
                  <c:v>Tertiary</c:v>
                </c:pt>
                <c:pt idx="3">
                  <c:v>Secondary</c:v>
                </c:pt>
                <c:pt idx="4">
                  <c:v>Primary</c:v>
                </c:pt>
                <c:pt idx="5">
                  <c:v>Trunk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92400</c:v>
                </c:pt>
                <c:pt idx="1">
                  <c:v>22976</c:v>
                </c:pt>
                <c:pt idx="2">
                  <c:v>5218</c:v>
                </c:pt>
                <c:pt idx="3">
                  <c:v>2923</c:v>
                </c:pt>
                <c:pt idx="4">
                  <c:v>2072</c:v>
                </c:pt>
                <c:pt idx="5">
                  <c:v>941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9-4B90-89E0-5EC1B8CF4D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Pune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Residential</c:v>
                </c:pt>
                <c:pt idx="1">
                  <c:v>Service</c:v>
                </c:pt>
                <c:pt idx="2">
                  <c:v>Tertiary</c:v>
                </c:pt>
                <c:pt idx="3">
                  <c:v>Secondary</c:v>
                </c:pt>
                <c:pt idx="4">
                  <c:v>Primary</c:v>
                </c:pt>
                <c:pt idx="5">
                  <c:v>Trunk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42344</c:v>
                </c:pt>
                <c:pt idx="1">
                  <c:v>27361</c:v>
                </c:pt>
                <c:pt idx="2">
                  <c:v>2697</c:v>
                </c:pt>
                <c:pt idx="3">
                  <c:v>1927</c:v>
                </c:pt>
                <c:pt idx="4">
                  <c:v>1225</c:v>
                </c:pt>
                <c:pt idx="5">
                  <c:v>1104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A9-4B90-89E0-5EC1B8CF4D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b="1"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chemeClr val="lt1"/>
    </a:solidFill>
    <a:ln w="12700" cap="flat" cmpd="sng" algn="ctr">
      <a:solidFill>
        <a:schemeClr val="accent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Free flow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Area 5 min</c:v>
                </c:pt>
                <c:pt idx="1">
                  <c:v>Pop 5 min</c:v>
                </c:pt>
                <c:pt idx="2">
                  <c:v>Area 10 min</c:v>
                </c:pt>
                <c:pt idx="3">
                  <c:v>Pop 10 min</c:v>
                </c:pt>
                <c:pt idx="4">
                  <c:v>Area 15 min</c:v>
                </c:pt>
                <c:pt idx="5">
                  <c:v>Pop 15 min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48.42</c:v>
                </c:pt>
                <c:pt idx="1">
                  <c:v>70.400000000000006</c:v>
                </c:pt>
                <c:pt idx="2">
                  <c:v>79.680000000000007</c:v>
                </c:pt>
                <c:pt idx="3">
                  <c:v>98.41</c:v>
                </c:pt>
                <c:pt idx="4">
                  <c:v>84.55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65-4F45-BE76-9540C9BF30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traffic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Area 5 min</c:v>
                </c:pt>
                <c:pt idx="1">
                  <c:v>Pop 5 min</c:v>
                </c:pt>
                <c:pt idx="2">
                  <c:v>Area 10 min</c:v>
                </c:pt>
                <c:pt idx="3">
                  <c:v>Pop 10 min</c:v>
                </c:pt>
                <c:pt idx="4">
                  <c:v>Area 15 min</c:v>
                </c:pt>
                <c:pt idx="5">
                  <c:v>Pop 15 min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30.28</c:v>
                </c:pt>
                <c:pt idx="1">
                  <c:v>47.4</c:v>
                </c:pt>
                <c:pt idx="2">
                  <c:v>71.23</c:v>
                </c:pt>
                <c:pt idx="3">
                  <c:v>94.52</c:v>
                </c:pt>
                <c:pt idx="4">
                  <c:v>81.349999999999994</c:v>
                </c:pt>
                <c:pt idx="5">
                  <c:v>99.22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65-4F45-BE76-9540C9BF30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chemeClr val="lt1"/>
    </a:solidFill>
    <a:ln w="12700" cap="flat" cmpd="sng" algn="ctr">
      <a:solidFill>
        <a:schemeClr val="accent2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Free flow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Area 5 min</c:v>
                </c:pt>
                <c:pt idx="1">
                  <c:v>Pop 5 min</c:v>
                </c:pt>
                <c:pt idx="2">
                  <c:v>Area 10 min</c:v>
                </c:pt>
                <c:pt idx="3">
                  <c:v>Pop 10 min</c:v>
                </c:pt>
                <c:pt idx="4">
                  <c:v>Area 15 min</c:v>
                </c:pt>
                <c:pt idx="5">
                  <c:v>Pop 15 min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24.48</c:v>
                </c:pt>
                <c:pt idx="1">
                  <c:v>60.76</c:v>
                </c:pt>
                <c:pt idx="2">
                  <c:v>46.88</c:v>
                </c:pt>
                <c:pt idx="3">
                  <c:v>88.3</c:v>
                </c:pt>
                <c:pt idx="4">
                  <c:v>57.39</c:v>
                </c:pt>
                <c:pt idx="5">
                  <c:v>93.93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B8-42C5-91A3-B52D2B7A79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traffic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Area 5 min</c:v>
                </c:pt>
                <c:pt idx="1">
                  <c:v>Pop 5 min</c:v>
                </c:pt>
                <c:pt idx="2">
                  <c:v>Area 10 min</c:v>
                </c:pt>
                <c:pt idx="3">
                  <c:v>Pop 10 min</c:v>
                </c:pt>
                <c:pt idx="4">
                  <c:v>Area 15 min</c:v>
                </c:pt>
                <c:pt idx="5">
                  <c:v>Pop 15 min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15.33</c:v>
                </c:pt>
                <c:pt idx="1">
                  <c:v>42.84</c:v>
                </c:pt>
                <c:pt idx="2">
                  <c:v>36.39</c:v>
                </c:pt>
                <c:pt idx="3">
                  <c:v>75.59</c:v>
                </c:pt>
                <c:pt idx="4">
                  <c:v>48.56</c:v>
                </c:pt>
                <c:pt idx="5">
                  <c:v>88.79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B8-42C5-91A3-B52D2B7A79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/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chemeClr val="lt1"/>
    </a:solidFill>
    <a:ln w="12700" cap="flat" cmpd="sng" algn="ctr">
      <a:solidFill>
        <a:schemeClr val="accent6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928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question: when an ambulance is called, does the city's road layout decide whether the patient arrives in time? Two Indian megacities, same method, opposite morphologies. 20 slides, 20 minutes - about a minute each. Do not overrun on the early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claim: the difference between these cities is not budget or hospital count. It is the shape of the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equity correction. It is the difference between a fair comparison and an artefact of boundary size, and reviewers ask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 = 0 assumption is the most likely audience question. Answer: it is deliberately conservative. TomTom probe coverage is arterial; assuming free-flow on residential streets under-states delay rather than inventing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deterministic formula. A mapping API would hide the congestion model inside someone else's algorithm and make the result unreproducible.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cities look similar in proportion - roughly 90 percent minor roads. The difference is absolute count, and that is what creates redundancy.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Figure 7. Talk to the shape, not the legend: reach spreads in all directions, and catchments overlap - that overlap IS the redundancy.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Figure 8. Say out loud that the symbology and thresholds are identical to the previous slide - otherwise the visual comparison means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five minutes congestion bites hard - 70 percent down to 47 percent. But by fifteen minutes the network has routed around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five-minute area figure is the one to dwell on: 15.3 percent under traffic, roughly half Bengaluru's. Same method, same sources, very different 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Figure 10. The gap between the two hulls is the visual measure of congestion cost - small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Figure 9. Contrast the SHAPE with the previous slide - branches versus blobs. That shape difference is the whole argument in one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Delay per kilometre is the fairest single comparison because it normalises for network size. Twice the delay, on a shorter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large Voronoi polygon means one hospital is responsible for a large area - which is exactly where emergency response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conceptual heart of the paper. If you are running short on time, this is the slide to slow down on - everything else supports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a question on the Ci = 0 assumption. The answer is that it is deliberately conservative for last-mile travel.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an invitation, not a finished result. If anyone in the room works on graph learning or traffic, this is the slide that starts that conversation - stay in the room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on the policy implication. This is the sentence you want people to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for discussion. Have the sponge-versus-tree slide and the backup slide ready to jump back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use this if asked directly. It describes a refinement planned for the follow-up study, NOT the method in the archived paper - say so explicitly if you show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dwait.Priyadarshan@iiitb.ac.i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ove.tomtom.com/" TargetMode="External"/><Relationship Id="rId2" Type="http://schemas.openxmlformats.org/officeDocument/2006/relationships/hyperlink" Target="https://github.com/datameet/Municipal_Spatial_Data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1007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FOSS4G GLOBAL 2026  </a:t>
            </a:r>
            <a:r>
              <a:rPr lang="en-US" sz="2400" b="1" kern="0" spc="20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ACADEMIC </a:t>
            </a:r>
            <a:r>
              <a:rPr lang="en-US" sz="2400" b="1" kern="0" spc="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 ·  HIROSHIMA</a:t>
            </a:r>
            <a:endParaRPr lang="en-US" sz="2400" dirty="0">
              <a:solidFill>
                <a:schemeClr val="tx2"/>
              </a:solidFill>
            </a:endParaRPr>
          </a:p>
        </p:txBody>
      </p:sp>
      <p:sp useBgFill="1">
        <p:nvSpPr>
          <p:cNvPr id="3" name="Text 1"/>
          <p:cNvSpPr/>
          <p:nvPr/>
        </p:nvSpPr>
        <p:spPr>
          <a:xfrm>
            <a:off x="640079" y="829236"/>
            <a:ext cx="11443063" cy="16002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900"/>
              </a:lnSpc>
              <a:buNone/>
            </a:pPr>
            <a:r>
              <a:rPr lang="en-US" sz="3600" b="1" dirty="0">
                <a:solidFill>
                  <a:srgbClr val="C00000"/>
                </a:solidFill>
                <a:latin typeface="THomba"/>
                <a:ea typeface="Arial" pitchFamily="34" charset="-122"/>
                <a:cs typeface="Arial" pitchFamily="34" charset="-120"/>
              </a:rPr>
              <a:t>Comparative Analysis of Route and Health Care Facilities for the Emergency Patients of Pune and Bengaluru</a:t>
            </a:r>
            <a:endParaRPr lang="en-US" sz="3600" dirty="0">
              <a:solidFill>
                <a:srgbClr val="C00000"/>
              </a:solidFill>
              <a:latin typeface="THomba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204113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road-network morphology decides who reaches a hospital in time</a:t>
            </a:r>
            <a:endParaRPr lang="en-US" sz="1600" b="1" dirty="0"/>
          </a:p>
        </p:txBody>
      </p:sp>
      <p:sp>
        <p:nvSpPr>
          <p:cNvPr id="5" name="Text 3"/>
          <p:cNvSpPr/>
          <p:nvPr/>
        </p:nvSpPr>
        <p:spPr>
          <a:xfrm>
            <a:off x="770710" y="2451329"/>
            <a:ext cx="10384970" cy="288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omba"/>
                <a:ea typeface="Arial" pitchFamily="34" charset="-122"/>
                <a:cs typeface="Arial" pitchFamily="34" charset="-120"/>
              </a:rPr>
              <a:t>Adwait Priyadarshan 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omba"/>
                <a:ea typeface="Arial" pitchFamily="34" charset="-122"/>
                <a:cs typeface="Arial" pitchFamily="34" charset="-120"/>
              </a:rPr>
              <a:t> 4</a:t>
            </a:r>
            <a:r>
              <a:rPr lang="en-US" sz="2400" b="1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THomba"/>
                <a:ea typeface="Arial" pitchFamily="34" charset="-122"/>
                <a:cs typeface="Arial" pitchFamily="34" charset="-120"/>
              </a:rPr>
              <a:t>th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omba"/>
                <a:ea typeface="Arial" pitchFamily="34" charset="-122"/>
                <a:cs typeface="Arial" pitchFamily="34" charset="-120"/>
              </a:rPr>
              <a:t> Year Integrated-MTech(BTech + MTech) CSE Student IIIT-Bangalore</a:t>
            </a:r>
          </a:p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omba"/>
                <a:ea typeface="Tahoma" panose="020B060403050404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Adwait.Priyadarshan@iiitb.ac.in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Homba"/>
              <a:ea typeface="Tahoma" panose="020B0604030504040204" pitchFamily="34" charset="0"/>
              <a:cs typeface="Calibri" panose="020F0502020204030204" pitchFamily="34" charset="0"/>
            </a:endParaRPr>
          </a:p>
          <a:p>
            <a:pPr algn="ctr"/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Homba"/>
              <a:ea typeface="Tahoma" panose="020B0604030504040204" pitchFamily="34" charset="0"/>
              <a:cs typeface="Calibri" panose="020F0502020204030204" pitchFamily="34" charset="0"/>
            </a:endParaRPr>
          </a:p>
          <a:p>
            <a:pPr indent="0" algn="ctr">
              <a:buNone/>
            </a:pPr>
            <a:r>
              <a:rPr lang="en-US" sz="2400" b="1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uFillTx/>
                <a:latin typeface="THomba"/>
                <a:ea typeface="Tahoma" panose="020B0604030504040204" pitchFamily="34" charset="0"/>
                <a:cs typeface="Tahoma" panose="020B0604030504040204" pitchFamily="34" charset="0"/>
              </a:rPr>
              <a:t>Manish Kumar Mishra</a:t>
            </a:r>
          </a:p>
          <a:p>
            <a:pPr indent="0" algn="ctr"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uFillTx/>
                <a:latin typeface="THomba"/>
                <a:ea typeface="Tahoma" panose="020B0604030504040204" pitchFamily="34" charset="0"/>
                <a:cs typeface="Tahoma" panose="020B0604030504040204" pitchFamily="34" charset="0"/>
              </a:rPr>
              <a:t>Environmental Monitoring &amp; Assessment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omba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uFillTx/>
                <a:latin typeface="THomba"/>
                <a:ea typeface="Tahoma" panose="020B0604030504040204" pitchFamily="34" charset="0"/>
                <a:cs typeface="Tahoma" panose="020B0604030504040204" pitchFamily="34" charset="0"/>
              </a:rPr>
              <a:t>Division, BARC, Mumbai</a:t>
            </a: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omba"/>
                <a:cs typeface="Calibri" panose="020F0502020204030204" pitchFamily="34" charset="0"/>
              </a:rPr>
              <a:t>manishkm@barc.gov.in</a:t>
            </a:r>
            <a:endParaRPr lang="en-US" sz="2400" b="1" u="none" strike="noStrike" dirty="0">
              <a:solidFill>
                <a:schemeClr val="tx1">
                  <a:lumMod val="95000"/>
                  <a:lumOff val="5000"/>
                </a:schemeClr>
              </a:solidFill>
              <a:effectLst/>
              <a:uFillTx/>
              <a:latin typeface="THomba"/>
              <a:cs typeface="Calibri" panose="020F0502020204030204" pitchFamily="34" charset="0"/>
            </a:endParaRPr>
          </a:p>
          <a:p>
            <a:pPr marL="0" indent="0" algn="ctr">
              <a:buNone/>
            </a:pP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79" y="576986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Open-source  ·  QGIS · OpenStreetMap · GHSL · PyGIS</a:t>
            </a:r>
            <a:endParaRPr lang="en-US" sz="115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3EA579-AEAF-6010-6E22-0940CF52E5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7765" y="5501724"/>
            <a:ext cx="1491115" cy="8996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9774" y="203864"/>
            <a:ext cx="359228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C000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400" b="1" dirty="0">
              <a:solidFill>
                <a:srgbClr val="C00000"/>
              </a:solidFill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7368" y="1869956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1</a:t>
            </a:r>
            <a:endParaRPr lang="en-IN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1675" y="2490292"/>
            <a:ext cx="54668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is highly dependent on “Time”</a:t>
            </a:r>
            <a:endParaRPr lang="en-US" sz="2000" dirty="0">
              <a:ln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51675" y="1843797"/>
            <a:ext cx="6281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Survival in Trauma and Cardiac emergencies is measured in minutes, not kilometres.</a:t>
            </a:r>
            <a:endParaRPr lang="en-US" sz="1600" b="1" dirty="0"/>
          </a:p>
        </p:txBody>
      </p:sp>
      <p:sp>
        <p:nvSpPr>
          <p:cNvPr id="8" name="Shape 6"/>
          <p:cNvSpPr/>
          <p:nvPr/>
        </p:nvSpPr>
        <p:spPr>
          <a:xfrm>
            <a:off x="87368" y="3139659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51962" y="4026683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n>
                  <a:solidFill>
                    <a:srgbClr val="C00000"/>
                  </a:solidFill>
                </a:ln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breaks the catchment</a:t>
            </a:r>
            <a:endParaRPr lang="en-US" sz="2000" dirty="0">
              <a:ln>
                <a:solidFill>
                  <a:srgbClr val="C00000"/>
                </a:solidFill>
              </a:ln>
            </a:endParaRPr>
          </a:p>
        </p:txBody>
      </p:sp>
      <p:sp>
        <p:nvSpPr>
          <p:cNvPr id="11" name="Text 9"/>
          <p:cNvSpPr/>
          <p:nvPr/>
        </p:nvSpPr>
        <p:spPr>
          <a:xfrm>
            <a:off x="651675" y="3192454"/>
            <a:ext cx="607559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2160"/>
              </a:lnSpc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Service areas are drawn as radii around hospitals. Under real traffic, reach follows road network instead &amp; the loss could not be quantified for these cities from open data.</a:t>
            </a:r>
            <a:endParaRPr lang="en-US" sz="1600" b="1" dirty="0"/>
          </a:p>
          <a:p>
            <a:pPr marL="0" indent="0" algn="just">
              <a:lnSpc>
                <a:spcPts val="2160"/>
              </a:lnSpc>
              <a:buNone/>
            </a:pPr>
            <a:endParaRPr lang="en-US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just">
              <a:lnSpc>
                <a:spcPts val="2160"/>
              </a:lnSpc>
              <a:buNone/>
            </a:pPr>
            <a:endParaRPr lang="en-US" b="1" dirty="0"/>
          </a:p>
        </p:txBody>
      </p:sp>
      <p:sp>
        <p:nvSpPr>
          <p:cNvPr id="12" name="Shape 10"/>
          <p:cNvSpPr/>
          <p:nvPr/>
        </p:nvSpPr>
        <p:spPr>
          <a:xfrm>
            <a:off x="87368" y="4794865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1926" y="55851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n>
                  <a:solidFill>
                    <a:srgbClr val="C00000"/>
                  </a:solidFill>
                </a:ln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unanswered question</a:t>
            </a:r>
            <a:endParaRPr lang="en-US" sz="1700" dirty="0">
              <a:ln>
                <a:solidFill>
                  <a:srgbClr val="C00000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1926" y="4794865"/>
            <a:ext cx="6035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700"/>
              </a:lnSpc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Whether road-network structure decide how much of a city is reachable in 5, 10 and 15 minutes — and how much of the population is left outside?</a:t>
            </a:r>
            <a:endParaRPr lang="en-US" sz="1600" b="1" dirty="0"/>
          </a:p>
        </p:txBody>
      </p:sp>
      <p:sp>
        <p:nvSpPr>
          <p:cNvPr id="16" name="Shape 14"/>
          <p:cNvSpPr/>
          <p:nvPr/>
        </p:nvSpPr>
        <p:spPr>
          <a:xfrm>
            <a:off x="7187835" y="1326314"/>
            <a:ext cx="4539344" cy="249494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138850" y="1446929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50" dirty="0">
                <a:solidFill>
                  <a:schemeClr val="accent1">
                    <a:lumMod val="50000"/>
                  </a:schemeClr>
                </a:solidFill>
                <a:latin typeface="THomba"/>
                <a:ea typeface="Arial" pitchFamily="34" charset="-122"/>
                <a:cs typeface="Arial" pitchFamily="34" charset="-120"/>
              </a:rPr>
              <a:t>BENGALURU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Homb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96200" y="1364238"/>
            <a:ext cx="3779520" cy="1679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endParaRPr lang="en-US" b="1" dirty="0">
              <a:solidFill>
                <a:srgbClr val="1E293B"/>
              </a:solidFill>
              <a:latin typeface="THomba"/>
              <a:ea typeface="Arial" pitchFamily="34" charset="-122"/>
              <a:cs typeface="Arial" pitchFamily="34" charset="-120"/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1E293B"/>
                </a:solidFill>
                <a:latin typeface="THomba"/>
                <a:ea typeface="Arial" pitchFamily="34" charset="-122"/>
                <a:cs typeface="Arial" pitchFamily="34" charset="-120"/>
              </a:rPr>
              <a:t>TomTom Traffic index 2025 Global Ranking 2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1E293B"/>
                </a:solidFill>
                <a:latin typeface="THomba"/>
                <a:ea typeface="Arial" pitchFamily="34" charset="-122"/>
                <a:cs typeface="Arial" pitchFamily="34" charset="-120"/>
              </a:rPr>
              <a:t>Flat Deccan Plateau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1E293B"/>
                </a:solidFill>
                <a:latin typeface="THomba"/>
                <a:ea typeface="Arial" pitchFamily="34" charset="-122"/>
                <a:cs typeface="Arial" pitchFamily="34" charset="-120"/>
              </a:rPr>
              <a:t>Radial and Grid streets</a:t>
            </a:r>
            <a:endParaRPr lang="en-US" b="1" dirty="0">
              <a:latin typeface="THomba"/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1E293B"/>
                </a:solidFill>
                <a:latin typeface="THomba"/>
                <a:ea typeface="Arial" pitchFamily="34" charset="-122"/>
                <a:cs typeface="Arial" pitchFamily="34" charset="-120"/>
              </a:rPr>
              <a:t>A sponge </a:t>
            </a:r>
            <a:endParaRPr lang="en-US" b="1" dirty="0">
              <a:latin typeface="THomb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35582" y="3969694"/>
            <a:ext cx="4585063" cy="2496312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905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102928" y="396969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150" dirty="0">
                <a:solidFill>
                  <a:schemeClr val="accent1">
                    <a:lumMod val="50000"/>
                  </a:schemeClr>
                </a:solidFill>
                <a:latin typeface="THomba"/>
                <a:ea typeface="Arial" pitchFamily="34" charset="-122"/>
                <a:cs typeface="Arial" pitchFamily="34" charset="-120"/>
              </a:rPr>
              <a:t>PUNE</a:t>
            </a:r>
            <a:endParaRPr lang="en-US" sz="2000" dirty="0">
              <a:solidFill>
                <a:schemeClr val="accent1">
                  <a:lumMod val="50000"/>
                </a:schemeClr>
              </a:solidFill>
              <a:latin typeface="THomb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543800" y="4027985"/>
            <a:ext cx="4206239" cy="212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endParaRPr lang="en-US" b="1" dirty="0">
              <a:solidFill>
                <a:srgbClr val="1E293B"/>
              </a:solidFill>
              <a:latin typeface="THombsa"/>
              <a:cs typeface="Arial" pitchFamily="34" charset="-120"/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1E293B"/>
                </a:solidFill>
                <a:latin typeface="THomba"/>
                <a:ea typeface="Arial" pitchFamily="34" charset="-122"/>
                <a:cs typeface="Arial" pitchFamily="34" charset="-120"/>
              </a:rPr>
              <a:t>TomTom Traffic Index 2025 Global Ranking 5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1E293B"/>
                </a:solidFill>
                <a:latin typeface="THombsa"/>
                <a:cs typeface="Arial" pitchFamily="34" charset="-120"/>
              </a:rPr>
              <a:t> </a:t>
            </a:r>
            <a:r>
              <a:rPr lang="en-US" b="1" dirty="0">
                <a:solidFill>
                  <a:srgbClr val="1E293B"/>
                </a:solidFill>
                <a:latin typeface="THombsa"/>
                <a:ea typeface="Arial" pitchFamily="34" charset="-122"/>
                <a:cs typeface="Arial" pitchFamily="34" charset="-120"/>
              </a:rPr>
              <a:t>Sahyadri foothills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1E293B"/>
                </a:solidFill>
                <a:latin typeface="THombsa"/>
                <a:ea typeface="Arial" pitchFamily="34" charset="-122"/>
                <a:cs typeface="Arial" pitchFamily="34" charset="-120"/>
              </a:rPr>
              <a:t> Split by the Mula and Mutha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1E293B"/>
                </a:solidFill>
                <a:latin typeface="THombsa"/>
                <a:ea typeface="Arial" pitchFamily="34" charset="-122"/>
                <a:cs typeface="Arial" pitchFamily="34" charset="-120"/>
              </a:rPr>
              <a:t>A collapsing tree</a:t>
            </a:r>
            <a:endParaRPr lang="en-US" b="1" dirty="0">
              <a:latin typeface="THombs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D9E59FA5-B3C6-193B-E0BE-C4FFBF92AEAF}"/>
              </a:ext>
            </a:extLst>
          </p:cNvPr>
          <p:cNvSpPr/>
          <p:nvPr/>
        </p:nvSpPr>
        <p:spPr>
          <a:xfrm>
            <a:off x="275772" y="838622"/>
            <a:ext cx="6733899" cy="749807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endParaRPr lang="en-US" sz="2000" b="1" dirty="0">
              <a:solidFill>
                <a:srgbClr val="0F172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of a city can an ambulance actually reach in time?</a:t>
            </a:r>
            <a:endParaRPr lang="en-US" sz="2000" dirty="0"/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768C8BA-D47C-BF28-C565-871FCBC2D617}"/>
              </a:ext>
            </a:extLst>
          </p:cNvPr>
          <p:cNvSpPr/>
          <p:nvPr/>
        </p:nvSpPr>
        <p:spPr>
          <a:xfrm>
            <a:off x="7119252" y="136543"/>
            <a:ext cx="4617724" cy="1009675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ts val="1860"/>
              </a:lnSpc>
            </a:pPr>
            <a:r>
              <a:rPr lang="en-US" sz="2000" b="1" dirty="0">
                <a:ln w="0"/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erial"/>
              </a:rPr>
              <a:t>Fast u</a:t>
            </a:r>
            <a:r>
              <a:rPr lang="en-US" sz="2000" b="1" i="0" u="none" dirty="0">
                <a:ln w="0"/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erial"/>
              </a:rPr>
              <a:t>rban expansion and vehicle uses have created severe spatial strain on critical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838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AREA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55320" y="625146"/>
            <a:ext cx="10881360" cy="868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Profiling the Two Megacities for Comparative Analysis  </a:t>
            </a:r>
            <a:endParaRPr lang="en-US" sz="2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805543" y="1493968"/>
          <a:ext cx="4988679" cy="44348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193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5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9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Parameter</a:t>
                      </a:r>
                      <a:endParaRPr lang="en-US" sz="2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BENGALURU</a:t>
                      </a:r>
                      <a:endParaRPr lang="en-US" sz="2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PUNE</a:t>
                      </a:r>
                      <a:endParaRPr lang="en-US" sz="2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93B"/>
                          </a:solidFill>
                        </a:rPr>
                        <a:t>Area</a:t>
                      </a:r>
                      <a:endParaRPr lang="en-US" sz="1800" b="1" dirty="0">
                        <a:latin typeface="+mn-lt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</a:rPr>
                        <a:t>710 km²</a:t>
                      </a:r>
                      <a:endParaRPr lang="en-US" sz="1800" b="1" dirty="0">
                        <a:latin typeface="+mn-lt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</a:rPr>
                        <a:t>742 km²</a:t>
                      </a:r>
                      <a:endParaRPr lang="en-US" sz="1800" b="1" dirty="0">
                        <a:latin typeface="+mn-lt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93B"/>
                          </a:solidFill>
                        </a:rPr>
                        <a:t>Road length</a:t>
                      </a:r>
                      <a:endParaRPr lang="en-US" sz="1800" b="1" dirty="0">
                        <a:latin typeface="+mn-lt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</a:rPr>
                        <a:t>16,310 km</a:t>
                      </a:r>
                      <a:endParaRPr lang="en-US" sz="1800" b="1" dirty="0">
                        <a:latin typeface="+mn-lt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</a:rPr>
                        <a:t>10,662 km</a:t>
                      </a:r>
                      <a:endParaRPr lang="en-US" sz="1800" b="1" dirty="0">
                        <a:latin typeface="+mn-lt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93B"/>
                          </a:solidFill>
                        </a:rPr>
                        <a:t>Road density</a:t>
                      </a:r>
                      <a:endParaRPr lang="en-US" sz="1800" b="1" dirty="0">
                        <a:latin typeface="+mn-lt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</a:rPr>
                        <a:t>22.97 km/km²</a:t>
                      </a:r>
                      <a:endParaRPr lang="en-US" sz="1800" b="1" dirty="0">
                        <a:latin typeface="+mn-lt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</a:rPr>
                        <a:t>14.37 km/km²</a:t>
                      </a:r>
                      <a:endParaRPr lang="en-US" sz="1800" b="1" dirty="0">
                        <a:latin typeface="+mn-lt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93B"/>
                          </a:solidFill>
                        </a:rPr>
                        <a:t>Emergency Hospitals</a:t>
                      </a:r>
                      <a:endParaRPr lang="en-US" sz="1800" b="1" dirty="0">
                        <a:latin typeface="+mn-lt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</a:rPr>
                        <a:t>62</a:t>
                      </a:r>
                      <a:endParaRPr lang="en-US" sz="1800" b="1" dirty="0">
                        <a:latin typeface="+mn-lt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</a:rPr>
                        <a:t>55</a:t>
                      </a:r>
                      <a:endParaRPr lang="en-US" sz="1800" b="1" dirty="0">
                        <a:latin typeface="+mn-lt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93B"/>
                          </a:solidFill>
                        </a:rPr>
                        <a:t>Morphology</a:t>
                      </a:r>
                      <a:endParaRPr lang="en-US" sz="1800" b="1" dirty="0">
                        <a:latin typeface="+mn-lt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</a:rPr>
                        <a:t>Radial + grid</a:t>
                      </a:r>
                      <a:endParaRPr lang="en-US" sz="1800" b="1" dirty="0">
                        <a:latin typeface="+mn-lt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</a:rPr>
                        <a:t>Dendritic</a:t>
                      </a:r>
                      <a:endParaRPr lang="en-US" sz="1800" b="1" dirty="0">
                        <a:latin typeface="+mn-lt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56810" y="1624340"/>
            <a:ext cx="5647509" cy="3391797"/>
          </a:xfrm>
          <a:prstGeom prst="roundRect">
            <a:avLst>
              <a:gd name="adj" fmla="val 275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7537269" y="1940178"/>
            <a:ext cx="3592285" cy="3200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spc="50" dirty="0">
                <a:ln w="0">
                  <a:solidFill>
                    <a:schemeClr val="accent1"/>
                  </a:solidFill>
                </a:ln>
                <a:solidFill>
                  <a:schemeClr val="bg2">
                    <a:lumMod val="25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Hombsa"/>
                <a:ea typeface="Arial" pitchFamily="34" charset="-122"/>
                <a:cs typeface="Arial" pitchFamily="34" charset="-120"/>
              </a:rPr>
              <a:t>The Equity Correction</a:t>
            </a:r>
            <a:endParaRPr lang="en-US" sz="2400" b="1" spc="50" dirty="0">
              <a:ln w="0">
                <a:solidFill>
                  <a:schemeClr val="accent1"/>
                </a:solidFill>
              </a:ln>
              <a:solidFill>
                <a:schemeClr val="bg2">
                  <a:lumMod val="25000"/>
                </a:schemeClr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THombsa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91794" y="2570631"/>
            <a:ext cx="5329646" cy="244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160"/>
              </a:lnSpc>
              <a:buNone/>
            </a:pPr>
            <a:r>
              <a:rPr lang="en-US" b="1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Pimpri-Chinchwad (extended city, 1.7 Million)  was merged into the Pune boundary so both study areas are comparable in extent — 742 km² against 710 km².</a:t>
            </a:r>
            <a:endParaRPr lang="en-US" b="1" dirty="0">
              <a:ln w="0"/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lnSpc>
                <a:spcPts val="2160"/>
              </a:lnSpc>
              <a:buNone/>
            </a:pPr>
            <a:endParaRPr lang="en-US" b="1" dirty="0">
              <a:ln w="0"/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lnSpc>
                <a:spcPts val="2160"/>
              </a:lnSpc>
              <a:buNone/>
            </a:pPr>
            <a:r>
              <a:rPr lang="en-US" b="1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Without this, the comparison would reward Bengaluru for size alone.</a:t>
            </a:r>
            <a:endParaRPr lang="en-US" b="1" dirty="0">
              <a:ln w="0"/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 5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F88140-CAE2-3BBF-539C-B2C329B53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55192"/>
              </p:ext>
            </p:extLst>
          </p:nvPr>
        </p:nvGraphicFramePr>
        <p:xfrm>
          <a:off x="413657" y="828623"/>
          <a:ext cx="11364685" cy="5777471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766968">
                  <a:extLst>
                    <a:ext uri="{9D8B030D-6E8A-4147-A177-3AD203B41FA5}">
                      <a16:colId xmlns:a16="http://schemas.microsoft.com/office/drawing/2014/main" val="248538059"/>
                    </a:ext>
                  </a:extLst>
                </a:gridCol>
                <a:gridCol w="1759799">
                  <a:extLst>
                    <a:ext uri="{9D8B030D-6E8A-4147-A177-3AD203B41FA5}">
                      <a16:colId xmlns:a16="http://schemas.microsoft.com/office/drawing/2014/main" val="2740606766"/>
                    </a:ext>
                  </a:extLst>
                </a:gridCol>
                <a:gridCol w="4254577">
                  <a:extLst>
                    <a:ext uri="{9D8B030D-6E8A-4147-A177-3AD203B41FA5}">
                      <a16:colId xmlns:a16="http://schemas.microsoft.com/office/drawing/2014/main" val="1337917381"/>
                    </a:ext>
                  </a:extLst>
                </a:gridCol>
                <a:gridCol w="4583341">
                  <a:extLst>
                    <a:ext uri="{9D8B030D-6E8A-4147-A177-3AD203B41FA5}">
                      <a16:colId xmlns:a16="http://schemas.microsoft.com/office/drawing/2014/main" val="3556563665"/>
                    </a:ext>
                  </a:extLst>
                </a:gridCol>
              </a:tblGrid>
              <a:tr h="1107807">
                <a:tc>
                  <a:txBody>
                    <a:bodyPr/>
                    <a:lstStyle/>
                    <a:p>
                      <a:endParaRPr lang="en-US" sz="1800" b="1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b="1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800" b="1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Road network</a:t>
                      </a:r>
                    </a:p>
                    <a:p>
                      <a:endParaRPr lang="en-IN" sz="2000" b="1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OpenStreetMap via QuickOSM</a:t>
                      </a:r>
                    </a:p>
                    <a:p>
                      <a:endParaRPr lang="en-IN" sz="1800" b="0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Primary · secondary · tertiary · residential, etc. merged into a single road network</a:t>
                      </a:r>
                    </a:p>
                    <a:p>
                      <a:endParaRPr lang="en-IN" sz="1800" b="0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528745"/>
                  </a:ext>
                </a:extLst>
              </a:tr>
              <a:tr h="1107807">
                <a:tc>
                  <a:txBody>
                    <a:bodyPr/>
                    <a:lstStyle/>
                    <a:p>
                      <a:endParaRPr lang="en-US" sz="1800" b="1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b="1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800" b="1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rgbClr val="C0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Hospitals</a:t>
                      </a:r>
                    </a:p>
                    <a:p>
                      <a:endParaRPr lang="en-IN" sz="2000" b="1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rgbClr val="C0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OSM, manually verified</a:t>
                      </a:r>
                    </a:p>
                    <a:p>
                      <a:endParaRPr lang="en-IN" sz="1800" b="0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rgbClr val="C0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62 Bengaluru, 55 Pune — emergency-capabilities only</a:t>
                      </a:r>
                    </a:p>
                    <a:p>
                      <a:endParaRPr lang="en-IN" sz="1800" b="0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rgbClr val="C0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754844"/>
                  </a:ext>
                </a:extLst>
              </a:tr>
              <a:tr h="1022591">
                <a:tc>
                  <a:txBody>
                    <a:bodyPr/>
                    <a:lstStyle/>
                    <a:p>
                      <a:endParaRPr lang="en-US" sz="1800" b="1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b="1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800" b="1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Boundaries</a:t>
                      </a:r>
                    </a:p>
                    <a:p>
                      <a:endParaRPr lang="en-IN" sz="2000" b="1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Datameet municipal repository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en-US" sz="1800" b="0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hlinkClick r:id="rId2"/>
                        </a:rPr>
                        <a:t>https://github.com/datameet/Municipal_Spatial_Data</a:t>
                      </a:r>
                      <a:r>
                        <a:rPr lang="en-US" sz="1800" b="0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 )</a:t>
                      </a:r>
                      <a:endParaRPr lang="en-IN" sz="1800" b="0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GeoJSON converted to GeoPackage</a:t>
                      </a:r>
                    </a:p>
                    <a:p>
                      <a:endParaRPr lang="en-IN" sz="1800" b="0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463828"/>
                  </a:ext>
                </a:extLst>
              </a:tr>
              <a:tr h="1022591">
                <a:tc>
                  <a:txBody>
                    <a:bodyPr/>
                    <a:lstStyle/>
                    <a:p>
                      <a:endParaRPr lang="en-US" sz="1800" b="1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b="1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1800" b="1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rgbClr val="C0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Population</a:t>
                      </a:r>
                    </a:p>
                    <a:p>
                      <a:endParaRPr lang="en-IN" sz="2000" b="1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rgbClr val="C0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GHSL gridded estimates</a:t>
                      </a:r>
                    </a:p>
                    <a:p>
                      <a:endParaRPr lang="en-IN" sz="1800" b="0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rgbClr val="C0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Satellite imagery with census integration</a:t>
                      </a:r>
                    </a:p>
                    <a:p>
                      <a:endParaRPr lang="en-IN" sz="1800" b="0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rgbClr val="C0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458278"/>
                  </a:ext>
                </a:extLst>
              </a:tr>
              <a:tr h="1107807">
                <a:tc>
                  <a:txBody>
                    <a:bodyPr/>
                    <a:lstStyle/>
                    <a:p>
                      <a:endParaRPr lang="en-US" sz="1800" b="1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b="1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1800" b="1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Traffic</a:t>
                      </a:r>
                    </a:p>
                    <a:p>
                      <a:endParaRPr lang="en-IN" sz="2000" b="1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TomTom Move, August 2024 (</a:t>
                      </a:r>
                      <a:r>
                        <a:rPr lang="en-US" sz="1800" b="0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hlinkClick r:id="rId3"/>
                        </a:rPr>
                        <a:t>https://move.tomtom.com</a:t>
                      </a:r>
                      <a:r>
                        <a:rPr lang="en-US" sz="1800" b="0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 )</a:t>
                      </a:r>
                    </a:p>
                    <a:p>
                      <a:endParaRPr lang="en-IN" sz="1800" b="0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</a:rPr>
                        <a:t>GeoJSON → GPKG, snapped at 10 m to road segments</a:t>
                      </a:r>
                    </a:p>
                    <a:p>
                      <a:endParaRPr lang="en-IN" sz="1800" b="0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160791"/>
                  </a:ext>
                </a:extLst>
              </a:tr>
            </a:tbl>
          </a:graphicData>
        </a:graphic>
      </p:graphicFrame>
      <p:sp>
        <p:nvSpPr>
          <p:cNvPr id="3" name="Text 0">
            <a:extLst>
              <a:ext uri="{FF2B5EF4-FFF2-40B4-BE49-F238E27FC236}">
                <a16:creationId xmlns:a16="http://schemas.microsoft.com/office/drawing/2014/main" id="{B375A246-83C2-C2E5-ABA6-5152DD697830}"/>
              </a:ext>
            </a:extLst>
          </p:cNvPr>
          <p:cNvSpPr/>
          <p:nvPr/>
        </p:nvSpPr>
        <p:spPr>
          <a:xfrm>
            <a:off x="413657" y="21694"/>
            <a:ext cx="896112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3245A69-5470-DF87-D46F-139186962EBD}"/>
              </a:ext>
            </a:extLst>
          </p:cNvPr>
          <p:cNvSpPr/>
          <p:nvPr/>
        </p:nvSpPr>
        <p:spPr>
          <a:xfrm>
            <a:off x="2812850" y="115391"/>
            <a:ext cx="72297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open and Reproducible</a:t>
            </a:r>
            <a:endParaRPr lang="en-US" sz="2900" dirty="0"/>
          </a:p>
        </p:txBody>
      </p:sp>
    </p:spTree>
    <p:extLst>
      <p:ext uri="{BB962C8B-B14F-4D97-AF65-F5344CB8AC3E}">
        <p14:creationId xmlns:p14="http://schemas.microsoft.com/office/powerpoint/2010/main" val="3808979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602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CONGESTION INDEX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64950" y="29231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Cᵢ</a:t>
            </a:r>
            <a:endParaRPr lang="en-US" sz="2900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26720" y="1250308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01040" y="1370255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Cᵢ = 1 − (harmonic_speed / baseline_speed)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16280" y="1865241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[0, 1]:   0 = free-flow,   1 = stopped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harmonic_speed</a:t>
            </a: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TomTom harmonic average speed, measured from probe vehicles over August 2024.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baseline_speed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TomTom's per-segment reference speed for that road.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4160520"/>
            <a:ext cx="5669280" cy="1600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4990" y="4160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Related Reference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8641" y="4434840"/>
            <a:ext cx="51206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>
                <a:ln>
                  <a:solidFill>
                    <a:srgbClr val="C00000"/>
                  </a:solidFill>
                </a:ln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ᵢ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TomTom.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400" dirty="0">
              <a:solidFill>
                <a:srgbClr val="1E293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just">
              <a:buNone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travel-time speeds come from the OSM road hierarchy (Table 1). This keeps the routing model reproducible from open data alone — TomTom supplies only the relative slowdown.</a:t>
            </a:r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20840" y="98269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1  ·  Free-flow speed by OSM road hierarchy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120463"/>
              </p:ext>
            </p:extLst>
          </p:nvPr>
        </p:nvGraphicFramePr>
        <p:xfrm>
          <a:off x="6720840" y="1493678"/>
          <a:ext cx="2286000" cy="224028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 category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km/h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Motorway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Trunk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Motorway link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Trunk link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Secondary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755307"/>
              </p:ext>
            </p:extLst>
          </p:nvPr>
        </p:nvGraphicFramePr>
        <p:xfrm>
          <a:off x="9189720" y="1508470"/>
          <a:ext cx="2286000" cy="224028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 category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km/h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link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Secondary link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Tertiary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Residential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Tertiary link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522720" y="4251960"/>
            <a:ext cx="5303520" cy="210312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7040880" y="4434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assumption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766560" y="49606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TomTom observes arterials. Streets without adequate observation are assigned Cᵢ = 0 — held at free-flow. This avoids inflating last-mile times and identifies the arterial network as the true bottleneck.</a:t>
            </a:r>
            <a:endParaRPr lang="en-US" sz="1400" b="1" dirty="0">
              <a:solidFill>
                <a:schemeClr val="accent1"/>
              </a:solidFill>
            </a:endParaRPr>
          </a:p>
        </p:txBody>
      </p:sp>
      <p:sp>
        <p:nvSpPr>
          <p:cNvPr id="18" name="Text 14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OSM to a congestion-weighted routing network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49808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20848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road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20574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80360" y="17373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990088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90088" y="20848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attributes by Nearest 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10 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20574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20640" y="17373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230368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30368" y="20848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Reproject to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43N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880" y="20574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60920" y="17373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70648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70648" y="20848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travel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81160" y="20574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01200" y="17373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710928" y="1810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710928" y="20848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isochrones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200399"/>
            <a:ext cx="5852160" cy="2590621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60120" y="34015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 travel-time model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4964" y="3561588"/>
            <a:ext cx="5422392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Normal_Time    =  Segment_Length / Normal_Speed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Dynamic_Speed  =  Normal_Speed / (1 + Cᵢ)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Dynamic_Time   =  Normal_Time × (1 + Cᵢ)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60121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black-box routing API — the model is visible and reproducible.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0" y="3200400"/>
            <a:ext cx="466344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114032" y="32552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isochrones? not buffers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77184" y="3596461"/>
            <a:ext cx="4674736" cy="21945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Courier New" panose="02070309020205020404" pitchFamily="49" charset="0"/>
              <a:buChar char="o"/>
            </a:pPr>
            <a:endParaRPr lang="en-US" sz="1400" b="1" dirty="0">
              <a:solidFill>
                <a:schemeClr val="tx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 km circle assumes straight-line travel — it ignores the road network entirely.</a:t>
            </a:r>
            <a:endParaRPr lang="en-US" sz="1400" b="1" dirty="0">
              <a:solidFill>
                <a:schemeClr val="tx2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Isochrones map what is actually reachable in a given number of minutes.</a:t>
            </a:r>
            <a:endParaRPr lang="en-US" sz="1400" b="1" dirty="0">
              <a:solidFill>
                <a:schemeClr val="tx2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 to concave hulls at α = 0.01, checked against lakes and open land.</a:t>
            </a:r>
            <a:endParaRPr lang="en-US" sz="1400" b="1" dirty="0">
              <a:solidFill>
                <a:schemeClr val="tx2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COMPOSITION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220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 per cent (90 %) of both networks is Residential &amp; Service road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673654453"/>
              </p:ext>
            </p:extLst>
          </p:nvPr>
        </p:nvGraphicFramePr>
        <p:xfrm>
          <a:off x="640080" y="1645920"/>
          <a:ext cx="66751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45920"/>
            <a:ext cx="4271554" cy="4553712"/>
          </a:xfrm>
          <a:prstGeom prst="roundRect">
            <a:avLst>
              <a:gd name="adj" fmla="val 186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86384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asymmetry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863840" y="2331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92,400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863840" y="29900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Residential segments in Bengaluru</a:t>
            </a:r>
            <a:endParaRPr lang="en-US" sz="1400" b="1" dirty="0"/>
          </a:p>
        </p:txBody>
      </p:sp>
      <p:sp>
        <p:nvSpPr>
          <p:cNvPr id="9" name="Text 6"/>
          <p:cNvSpPr/>
          <p:nvPr/>
        </p:nvSpPr>
        <p:spPr>
          <a:xfrm>
            <a:off x="7863840" y="3566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42,344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863840" y="42245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in Pune — less than half</a:t>
            </a:r>
            <a:endParaRPr lang="en-US" sz="1600" b="1" dirty="0"/>
          </a:p>
        </p:txBody>
      </p:sp>
      <p:sp>
        <p:nvSpPr>
          <p:cNvPr id="11" name="Text 8"/>
          <p:cNvSpPr/>
          <p:nvPr/>
        </p:nvSpPr>
        <p:spPr>
          <a:xfrm>
            <a:off x="7680960" y="4636008"/>
            <a:ext cx="4101737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600"/>
              </a:lnSpc>
              <a:buNone/>
            </a:pPr>
            <a:endParaRPr lang="en-US" sz="1600" b="1" dirty="0">
              <a:solidFill>
                <a:srgbClr val="64748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just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Bengaluru's interconnected minor streets are the detours that absorb arterial congestion. Pune's arterials carry the load alone.</a:t>
            </a:r>
            <a:endParaRPr lang="en-US" sz="1600" b="1" dirty="0"/>
          </a:p>
        </p:txBody>
      </p:sp>
      <p:sp>
        <p:nvSpPr>
          <p:cNvPr id="12" name="Text 9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 ·  5-MINUTE SERVICE AREA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4559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Broad, overlapping reach from 62 hospitals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680960" cy="4480560"/>
          </a:xfrm>
          <a:prstGeom prst="roundRect">
            <a:avLst>
              <a:gd name="adj" fmla="val 1224"/>
            </a:avLst>
          </a:prstGeom>
          <a:solidFill>
            <a:srgbClr val="F8FAFC"/>
          </a:solidFill>
          <a:ln w="15875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PLACEHOLDER  —  Figure 7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 service area isochrone, Bengaluru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(traffic-integrated, hospitals as points)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856617" y="2158855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Salient features 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03920" y="2748425"/>
            <a:ext cx="3187337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spreads outward in all directions from each hospital.</a:t>
            </a:r>
            <a:endParaRPr lang="en-US" sz="1400" b="1" dirty="0">
              <a:solidFill>
                <a:schemeClr val="accent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Catchments overlap — most areas are served by more than one facility.</a:t>
            </a:r>
            <a:endParaRPr lang="en-US" sz="1400" b="1" dirty="0">
              <a:solidFill>
                <a:schemeClr val="accent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sit at the periphery, not inside the built-up core.</a:t>
            </a:r>
            <a:endParaRPr lang="en-US" sz="1400" b="1" dirty="0">
              <a:solidFill>
                <a:schemeClr val="accent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71705F-8610-9A69-F1EB-343AA9AE0C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1295400"/>
            <a:ext cx="7726680" cy="47853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  ·  5-MINUTE SERVICE AREA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method, a very different shape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680960" cy="4480560"/>
          </a:xfrm>
          <a:prstGeom prst="roundRect">
            <a:avLst>
              <a:gd name="adj" fmla="val 1224"/>
            </a:avLst>
          </a:prstGeom>
          <a:solidFill>
            <a:srgbClr val="F8FAFC"/>
          </a:solidFill>
          <a:ln w="15875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PLACEHOLDER  —  Figure 8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 service area isochrone, Pune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(same symbology and thresholds as the previous slide)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41080" y="208352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Salient Features 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29897" y="2560320"/>
            <a:ext cx="318080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8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stretches along corridors instead of spreading.</a:t>
            </a:r>
            <a:endParaRPr lang="en-US" sz="1400" b="1" dirty="0">
              <a:solidFill>
                <a:schemeClr val="accent1"/>
              </a:solidFill>
            </a:endParaRPr>
          </a:p>
          <a:p>
            <a:pPr marL="342900" indent="-342900" algn="just">
              <a:spcAft>
                <a:spcPts val="8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 crossings act as forced bottlenecks.</a:t>
            </a:r>
            <a:endParaRPr lang="en-US" sz="1400" b="1" dirty="0">
              <a:solidFill>
                <a:schemeClr val="accent1"/>
              </a:solidFill>
            </a:endParaRPr>
          </a:p>
          <a:p>
            <a:pPr marL="342900" indent="-342900" algn="just">
              <a:spcAft>
                <a:spcPts val="8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and northern sectors fall outside the reachable area.</a:t>
            </a:r>
            <a:endParaRPr lang="en-US" sz="1400" b="1" dirty="0">
              <a:solidFill>
                <a:schemeClr val="accent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657A58-81CD-0804-F815-44E670C65F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57" y="1485899"/>
            <a:ext cx="7754983" cy="47091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 ·  COVERAGE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absorbs congestion</a:t>
            </a:r>
            <a:endParaRPr lang="en-US" sz="29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416513346"/>
              </p:ext>
            </p:extLst>
          </p:nvPr>
        </p:nvGraphicFramePr>
        <p:xfrm>
          <a:off x="640080" y="164592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863840" y="1920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99.2%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863839" y="2578608"/>
            <a:ext cx="40625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population reached in 15 minutes, even with traffic</a:t>
            </a:r>
            <a:endParaRPr lang="en-US" sz="1600" b="1" dirty="0"/>
          </a:p>
        </p:txBody>
      </p:sp>
      <p:sp>
        <p:nvSpPr>
          <p:cNvPr id="7" name="Text 4"/>
          <p:cNvSpPr/>
          <p:nvPr/>
        </p:nvSpPr>
        <p:spPr>
          <a:xfrm>
            <a:off x="7863840" y="3291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about 1%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863840" y="39502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penalty from congestion at 15 minutes</a:t>
            </a:r>
            <a:endParaRPr lang="en-US" sz="1600" b="1" dirty="0"/>
          </a:p>
        </p:txBody>
      </p:sp>
      <p:sp>
        <p:nvSpPr>
          <p:cNvPr id="9" name="Text 6"/>
          <p:cNvSpPr/>
          <p:nvPr/>
        </p:nvSpPr>
        <p:spPr>
          <a:xfrm>
            <a:off x="7863840" y="536883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Detours do the work. The 15-minute figure barely moves when congestion is applied.</a:t>
            </a:r>
            <a:endParaRPr lang="en-US" sz="1400" b="1" dirty="0"/>
          </a:p>
        </p:txBody>
      </p:sp>
      <p:sp>
        <p:nvSpPr>
          <p:cNvPr id="10" name="Text 7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 ·  COVERAGE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 cannot</a:t>
            </a:r>
            <a:endParaRPr lang="en-US" sz="29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749732512"/>
              </p:ext>
            </p:extLst>
          </p:nvPr>
        </p:nvGraphicFramePr>
        <p:xfrm>
          <a:off x="640080" y="164592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863840" y="1920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88.8%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863840" y="25786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population reached in 15 minutes with traffic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63840" y="3291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5.14%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863840" y="39502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penalty — four times Bengaluru's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894319" y="5583065"/>
            <a:ext cx="403206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Roughly one in nine residents remains beyond reach after fifteen minutes.</a:t>
            </a:r>
            <a:endParaRPr lang="en-US" sz="1400" b="1" dirty="0"/>
          </a:p>
        </p:txBody>
      </p:sp>
      <p:sp>
        <p:nvSpPr>
          <p:cNvPr id="10" name="Text 7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000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 ·  CONCAVE HULL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416039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Free-flow against traffic-integrated reach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680960" cy="4480560"/>
          </a:xfrm>
          <a:prstGeom prst="roundRect">
            <a:avLst>
              <a:gd name="adj" fmla="val 1224"/>
            </a:avLst>
          </a:prstGeom>
          <a:solidFill>
            <a:srgbClr val="F8FAFC"/>
          </a:solidFill>
          <a:ln w="15875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PLACEHOLDER  —  Figure 10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 concave hull, Bengaluru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(free-flow vs traffic-integrated, α = 0.01)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858794" y="1895421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map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34399" y="2583180"/>
            <a:ext cx="348343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8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hulls stay close together — congestion costs little reach.</a:t>
            </a:r>
            <a:endParaRPr lang="en-US" sz="1600" b="1" dirty="0">
              <a:solidFill>
                <a:schemeClr val="accent1"/>
              </a:solidFill>
            </a:endParaRPr>
          </a:p>
          <a:p>
            <a:pPr marL="342900" indent="-342900" algn="just">
              <a:spcAft>
                <a:spcPts val="8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Hulls are broad and rounded, following the grid.</a:t>
            </a:r>
            <a:endParaRPr lang="en-US" sz="1600" b="1" dirty="0">
              <a:solidFill>
                <a:schemeClr val="accent1"/>
              </a:solidFill>
            </a:endParaRPr>
          </a:p>
          <a:p>
            <a:pPr marL="342900" indent="-342900" algn="just">
              <a:spcAft>
                <a:spcPts val="8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0.01 avoids the over-generalisation of a convex hull.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E3FC70-9AC5-05D1-9D87-4DF6AA8CA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95" y="1426237"/>
            <a:ext cx="8086164" cy="52031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440" y="17476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  ·  CONCAVE HULL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72440" y="352044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between free-flow and reality is much wider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680960" cy="4480560"/>
          </a:xfrm>
          <a:prstGeom prst="roundRect">
            <a:avLst>
              <a:gd name="adj" fmla="val 1224"/>
            </a:avLst>
          </a:prstGeom>
          <a:solidFill>
            <a:srgbClr val="F8FAFC"/>
          </a:solidFill>
          <a:ln w="15875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PLACEHOLDER  —  Figure 9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 concave hull, Pune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(free-flow vs traffic-integrated, α = 0.01)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57360" y="19685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map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02040" y="2560320"/>
            <a:ext cx="328748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8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visibly larger gap between the two hulls.</a:t>
            </a:r>
            <a:endParaRPr lang="en-US" sz="1400" b="1" dirty="0">
              <a:solidFill>
                <a:schemeClr val="accent1"/>
              </a:solidFill>
            </a:endParaRPr>
          </a:p>
          <a:p>
            <a:pPr marL="342900" indent="-342900" algn="just">
              <a:spcAft>
                <a:spcPts val="8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Hulls are thin and branch-shaped — one route, no alternative.</a:t>
            </a:r>
            <a:endParaRPr lang="en-US" sz="1400" b="1" dirty="0">
              <a:solidFill>
                <a:schemeClr val="accent1"/>
              </a:solidFill>
            </a:endParaRPr>
          </a:p>
          <a:p>
            <a:pPr marL="342900" indent="-342900" algn="just">
              <a:spcAft>
                <a:spcPts val="8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coverage falls from 24.5 % to 15.3 % at five minutes.</a:t>
            </a:r>
            <a:endParaRPr lang="en-US" sz="1400" b="1" dirty="0">
              <a:solidFill>
                <a:schemeClr val="accent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345A63-5E6A-49C7-9DB8-8292628B3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33" y="1158019"/>
            <a:ext cx="8229599" cy="54007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congestion (Quantification)</a:t>
            </a:r>
            <a:endParaRPr lang="en-US" sz="2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009171"/>
              </p:ext>
            </p:extLst>
          </p:nvPr>
        </p:nvGraphicFramePr>
        <p:xfrm>
          <a:off x="1998617" y="1484901"/>
          <a:ext cx="7370173" cy="332841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325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0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4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Parameter</a:t>
                      </a:r>
                      <a:endParaRPr lang="en-US" sz="1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BENGALURU</a:t>
                      </a:r>
                      <a:endParaRPr lang="en-US" sz="1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PUNE</a:t>
                      </a:r>
                      <a:endParaRPr lang="en-US" sz="1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Total network length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16,310.59 km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10,662.19 km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Study area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710 km²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742 km²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Road density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22.97 km/km²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14.37 km/km²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Total time lost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108.05 h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143.63 h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Average delay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24.0 sec/km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48.6 sec/km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City-wide penalty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13.51 %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26.15 %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5250987"/>
            <a:ext cx="11109960" cy="868680"/>
          </a:xfrm>
          <a:prstGeom prst="roundRect">
            <a:avLst>
              <a:gd name="adj" fmla="val 631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97859" y="543153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 loses 35 more hours across its network and pays roughly twice the delay per kilometre — on a network two-thirds the length.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DOMINANCE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61954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vs Population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Where the hospitals are - is not where the people are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3657600"/>
          </a:xfrm>
          <a:prstGeom prst="roundRect">
            <a:avLst>
              <a:gd name="adj" fmla="val 1500"/>
            </a:avLst>
          </a:prstGeom>
          <a:solidFill>
            <a:srgbClr val="F8FAFC"/>
          </a:solidFill>
          <a:ln w="15875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PLACEHOLDER  —  Figure 12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— hospital Voronoi catchments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645920"/>
            <a:ext cx="5257800" cy="3657600"/>
          </a:xfrm>
          <a:prstGeom prst="roundRect">
            <a:avLst>
              <a:gd name="adj" fmla="val 1500"/>
            </a:avLst>
          </a:prstGeom>
          <a:solidFill>
            <a:srgbClr val="F8FAFC"/>
          </a:solidFill>
          <a:ln w="15875">
            <a:solidFill>
              <a:srgbClr val="EA580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46520" y="30175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PLACEHOLDER  —  Figure 11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 — hospital Voronoi catchments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544068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catchments across central, southern and western zones. Gradual transition outward — peripheries thinner but not abandoned.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63640" y="544068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 clustering in the western-central core, then a cliff. Southern catchments are extremely large — an underserved distress zone.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6217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Bengaluru's gap is at the outskirts; Pune's is structural and reaches into the city.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C769BA-10FB-33F1-2277-F9085966DA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40" y="1641566"/>
            <a:ext cx="5290606" cy="36619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0D28B9-2656-1356-59AC-E368CDF5DF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54" y="1640858"/>
            <a:ext cx="5260125" cy="366266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Sponge versus tree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023360"/>
          </a:xfrm>
          <a:prstGeom prst="roundRect">
            <a:avLst>
              <a:gd name="adj" fmla="val 2273"/>
            </a:avLst>
          </a:prstGeom>
          <a:solidFill>
            <a:srgbClr val="134E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5840" y="1965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SPONGE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interconnected minor streets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arterial ⇒ a detour exists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is diffused, not amplified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 penalty: Near 1 % of population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257800" cy="4023360"/>
          </a:xfrm>
          <a:prstGeom prst="roundRect">
            <a:avLst>
              <a:gd name="adj" fmla="val 2273"/>
            </a:avLst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629400" y="1965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22860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29400" y="288036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12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links; rivers and hills force crossings</a:t>
            </a:r>
            <a:endParaRPr lang="en-US" dirty="0">
              <a:solidFill>
                <a:schemeClr val="bg2"/>
              </a:solidFill>
            </a:endParaRPr>
          </a:p>
          <a:p>
            <a:pPr marL="342900" indent="-342900" algn="just">
              <a:spcAft>
                <a:spcPts val="12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arterial ⇒ no alternative</a:t>
            </a:r>
            <a:endParaRPr lang="en-US" dirty="0">
              <a:solidFill>
                <a:schemeClr val="bg2"/>
              </a:solidFill>
            </a:endParaRPr>
          </a:p>
          <a:p>
            <a:pPr marL="342900" indent="-342900" algn="just">
              <a:spcAft>
                <a:spcPts val="12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propagates along the whole branch</a:t>
            </a:r>
            <a:endParaRPr lang="en-US" dirty="0">
              <a:solidFill>
                <a:schemeClr val="bg2"/>
              </a:solidFill>
            </a:endParaRPr>
          </a:p>
          <a:p>
            <a:pPr marL="342900" indent="-342900" algn="just">
              <a:spcAft>
                <a:spcPts val="12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 penalty: 5.14 % of population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Redundancy is resilience. A network with alternatives degrades gracefully; one without fails all at once.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analysis does not reflect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056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700067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One-way restrictions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069080" y="1691640"/>
            <a:ext cx="7452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one-way attributes are incomplete. Emergency vehicles were allowed limited flexibility, which may overestimate reach where physical barriers exist.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5877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Last-mile travel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069080" y="2587752"/>
            <a:ext cx="7452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location, building entrances, internal lanes and pedestrian paths lie outside the routable network.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97280" y="34838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Unobserved segments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069080" y="3483864"/>
            <a:ext cx="7452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Streets without adequate TomTom coverage were assigned Cᵢ = 0, keeping the model deliberately conservative on minor roads.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97280" y="437997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tiering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069080" y="4379976"/>
            <a:ext cx="7452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were verified as emergency-capable, but tier classification was not possible from open data.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97280" y="52760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time window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069080" y="5276088"/>
            <a:ext cx="7452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is August 2024 historical. Seasonal and event-driven variation is not represented.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4360" y="86410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network structure predict congestion where no traffic feed exists?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the morphology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Detour ratio, bridge fraction and load concentration turn 'sponge versus tree' into measurable numbers.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18288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8FAFC"/>
          </a:solidFill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36008" y="210312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36008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6008" y="27889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vulnerability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36008" y="32461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congestion data reveals when the network fails, not just whether — and how much population-time is exposed.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18288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8FAFC"/>
          </a:solidFill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57616" y="210312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57616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57616" y="27889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learning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57616" y="32461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graph neural network could infer congestion on the streets no probe vehicle observes, replacing the Cᵢ = 0 assumption.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" y="51663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14400" y="53721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congestion can be learned from network structure, this analysis becomes available to every city with OSM coverage — including those with no commercial traffic feed at all.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Redundancy is resilience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60120" y="207568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6012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0756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Morphology constrains equity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49631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Bengaluru's grid absorbs congestion through detours — a 1.34 % population penalty at 15 minutes.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0" y="2075688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9224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20756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is structural, not marginal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49631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Pune's dendritic network amplifies delay — a 5.14 % penalty, roughly four times higher.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60120" y="4178808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6012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178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measurable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59943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48.6 sec/km against 24.0 sec/km, on a network two-thirds the length.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92240" y="4178808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9224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4178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tools are sufficient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459943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QGIS, OSM, GHSL and open traffic data reproduce the entire analysis at no cost.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siting in a tree-like city must account for the fact that congestion cannot be routed around.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8362" y="371587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152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</a:rPr>
              <a:t>QUESTIONS?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Adwait Priyadarshan
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Adwait.Priyadarshan@iiitb.ac.in
IIIT Bangalore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63640" y="38404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Manish Kumar Mishra
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manishkm@barc.gov.in
BARC Mumbai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Acknowledgements — Department of Computer Science and Engineering, IIIT Bangalore; Prof. Anshuman Singh, Department of Civil Engineering, NIT Patna.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 —  NOT PART OF THE 20-MINUTE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asked: how were Pune's multiple time windows handled?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situation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Bengaluru's export carries one time set covering 08:00–23:00.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Pune's carries fifteen — the same window, written out hourly.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cover the same month and the same daily hours.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83680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 aggregation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103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v_eq  =  Σ nᵢ  /  Σ ( nᵢ / vᵢ 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606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Sample-weighted harmonic mean. Travel time is distance ÷ speed, so slow hours dominate the day — an arithmetic mean would understate delay.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10881360" cy="1371600"/>
          </a:xfrm>
          <a:prstGeom prst="roundRect">
            <a:avLst>
              <a:gd name="adj" fmla="val 466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40233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— one Pune segment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3708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hourly speeds:  6.3, 4.8, 6.7, 5.6, 7.4, 4.2, 4.0, 2.7, 4.4, 4.1, 3.8, 3.8, 4.2, 4.8, 8.6 km/h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value only 6.30      arithmetic mean 5.03      harmonic mean 4.49 km/h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394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also that TomTom's time-set ids are not chronological — id 6 is 08:00–09:00 while id 2 is 09:00–10:00 — so selecting "the first result" silently picks a mid-morning hour. Aggregation avoids the problem entirely. This is a refinement for the follow-up work, not part of the published analysis.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2558</TotalTime>
  <Words>2580</Words>
  <Application>Microsoft Office PowerPoint</Application>
  <PresentationFormat>Widescreen</PresentationFormat>
  <Paragraphs>409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Aerial</vt:lpstr>
      <vt:lpstr>Aptos</vt:lpstr>
      <vt:lpstr>Arial</vt:lpstr>
      <vt:lpstr>Consolas</vt:lpstr>
      <vt:lpstr>Courier New</vt:lpstr>
      <vt:lpstr>THomba</vt:lpstr>
      <vt:lpstr>THombsa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Route and Health Care Access: Pune vs Bengaluru</dc:title>
  <dc:subject>PptxGenJS Presentation</dc:subject>
  <dc:creator>Adwait Priyadarshan</dc:creator>
  <cp:lastModifiedBy>Viveka N Jha</cp:lastModifiedBy>
  <cp:revision>77</cp:revision>
  <dcterms:created xsi:type="dcterms:W3CDTF">2026-08-22T07:31:36Z</dcterms:created>
  <dcterms:modified xsi:type="dcterms:W3CDTF">2026-09-02T08:04:50Z</dcterms:modified>
</cp:coreProperties>
</file>